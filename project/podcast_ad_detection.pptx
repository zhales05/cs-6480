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B6CB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914400"/>
            <a:ext cx="914400" cy="914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1920240"/>
            <a:ext cx="7680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Automatic Advertisement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Detection in Podcasts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1371600" y="32918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EE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Text-Based Classification Approach Using Synthetic Training Data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371600" y="41148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Stephen Hales  |  Deep Learning Course Project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2B6CB0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2011680" cy="292608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1148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— PROJECT GOAL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Detecting Ads in Podcasts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60020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</a:t>
            </a:r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a podcast transcript, classify each segment as </a:t>
            </a:r>
            <a:pPr indent="0" marL="0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</a:t>
            </a:r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or </a:t>
            </a:r>
            <a:pPr indent="0" marL="0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38A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non-ad</a:t>
            </a:r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A binary classification problem with applications in ad-skipping, content indexing, and podcast analytics.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514600"/>
            <a:ext cx="4572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data: 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2,000 LLM-generated segments (1K ad, 1K non-ad)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fictional brands and realistic filler words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data: 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1,523 real segments via SponsorBlock + Whisper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(only 19 ad segments — 1.2%, highly imbalanced)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394960" y="1600200"/>
            <a:ext cx="3291840" cy="868680"/>
          </a:xfrm>
          <a:prstGeom prst="rect">
            <a:avLst/>
          </a:prstGeom>
          <a:solidFill>
            <a:srgbClr val="F7FAFC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394960" y="1600200"/>
            <a:ext cx="54864" cy="868680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9" name="Text 7"/>
          <p:cNvSpPr/>
          <p:nvPr/>
        </p:nvSpPr>
        <p:spPr>
          <a:xfrm>
            <a:off x="5623560" y="16733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Existing Dataset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623560" y="194767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built from scratch — synthetic generation + automated SponsorBlock pipeline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394960" y="2606040"/>
            <a:ext cx="3291840" cy="868680"/>
          </a:xfrm>
          <a:prstGeom prst="rect">
            <a:avLst/>
          </a:prstGeom>
          <a:solidFill>
            <a:srgbClr val="F7FAFC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394960" y="2606040"/>
            <a:ext cx="54864" cy="868680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13" name="Text 11"/>
          <p:cNvSpPr/>
          <p:nvPr/>
        </p:nvSpPr>
        <p:spPr>
          <a:xfrm>
            <a:off x="5623560" y="267919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Blurry Boundaries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623560" y="295351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Hosts slide from personal stories into ad reads with no clear transition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394960" y="3611880"/>
            <a:ext cx="3291840" cy="868680"/>
          </a:xfrm>
          <a:prstGeom prst="rect">
            <a:avLst/>
          </a:prstGeom>
          <a:solidFill>
            <a:srgbClr val="F7FAFC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394960" y="3611880"/>
            <a:ext cx="54864" cy="868680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17" name="Text 15"/>
          <p:cNvSpPr/>
          <p:nvPr/>
        </p:nvSpPr>
        <p:spPr>
          <a:xfrm>
            <a:off x="5623560" y="368503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Gap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623560" y="395935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trained on synthetic data must generalize to messy real-world transcripts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2286000" cy="292608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1148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— INPUTS &amp; TARGETS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Audio to Text Segments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1828800" cy="2194560"/>
          </a:xfrm>
          <a:prstGeom prst="rect">
            <a:avLst/>
          </a:prstGeom>
          <a:solidFill>
            <a:srgbClr val="F7FAFC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371600" y="1828800"/>
            <a:ext cx="365760" cy="365760"/>
          </a:xfrm>
          <a:prstGeom prst="ellipse">
            <a:avLst/>
          </a:prstGeom>
          <a:solidFill>
            <a:srgbClr val="2B6CB0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1828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23317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Audio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274320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Podcast episode</a:t>
            </a:r>
            <a:endParaRPr lang="en-US" sz="11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downloaded via yt-dlp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468880" y="246888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2788920" y="1691640"/>
            <a:ext cx="1828800" cy="2194560"/>
          </a:xfrm>
          <a:prstGeom prst="rect">
            <a:avLst/>
          </a:prstGeom>
          <a:solidFill>
            <a:srgbClr val="F7FAFC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520440" y="1828800"/>
            <a:ext cx="365760" cy="365760"/>
          </a:xfrm>
          <a:prstGeom prst="ellipse">
            <a:avLst/>
          </a:prstGeom>
          <a:solidFill>
            <a:srgbClr val="2B6CB0"/>
          </a:solidFill>
          <a:ln/>
        </p:spPr>
      </p:sp>
      <p:sp>
        <p:nvSpPr>
          <p:cNvPr id="13" name="Text 11"/>
          <p:cNvSpPr/>
          <p:nvPr/>
        </p:nvSpPr>
        <p:spPr>
          <a:xfrm>
            <a:off x="3520440" y="1828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880360" y="23317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Whisper ASR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880360" y="274320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Whisper produces</a:t>
            </a:r>
            <a:endParaRPr lang="en-US" sz="11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word-level transcript</a:t>
            </a:r>
            <a:endParaRPr lang="en-US" sz="11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timestamps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617720" y="246888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4937760" y="1691640"/>
            <a:ext cx="1828800" cy="2194560"/>
          </a:xfrm>
          <a:prstGeom prst="rect">
            <a:avLst/>
          </a:prstGeom>
          <a:solidFill>
            <a:srgbClr val="F7FAFC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669280" y="1828800"/>
            <a:ext cx="365760" cy="365760"/>
          </a:xfrm>
          <a:prstGeom prst="ellipse">
            <a:avLst/>
          </a:prstGeom>
          <a:solidFill>
            <a:srgbClr val="2B6CB0"/>
          </a:solidFill>
          <a:ln/>
        </p:spPr>
      </p:sp>
      <p:sp>
        <p:nvSpPr>
          <p:cNvPr id="19" name="Text 17"/>
          <p:cNvSpPr/>
          <p:nvPr/>
        </p:nvSpPr>
        <p:spPr>
          <a:xfrm>
            <a:off x="5669280" y="1828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029200" y="23317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029200" y="274320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into ~80-word</a:t>
            </a:r>
            <a:endParaRPr lang="en-US" sz="11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chunks with timestamp</a:t>
            </a:r>
            <a:endParaRPr lang="en-US" sz="11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alignment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766560" y="246888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7086600" y="1691640"/>
            <a:ext cx="1828800" cy="2194560"/>
          </a:xfrm>
          <a:prstGeom prst="rect">
            <a:avLst/>
          </a:prstGeom>
          <a:solidFill>
            <a:srgbClr val="F7FAFC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818120" y="1828800"/>
            <a:ext cx="365760" cy="365760"/>
          </a:xfrm>
          <a:prstGeom prst="ellipse">
            <a:avLst/>
          </a:prstGeom>
          <a:solidFill>
            <a:srgbClr val="2B6CB0"/>
          </a:solidFill>
          <a:ln/>
        </p:spPr>
      </p:sp>
      <p:sp>
        <p:nvSpPr>
          <p:cNvPr id="25" name="Text 23"/>
          <p:cNvSpPr/>
          <p:nvPr/>
        </p:nvSpPr>
        <p:spPr>
          <a:xfrm>
            <a:off x="7818120" y="1828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178040" y="23317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Labeling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178040" y="274320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SponsorBlock overlap</a:t>
            </a:r>
            <a:endParaRPr lang="en-US" sz="11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&gt;20% duration → ad</a:t>
            </a:r>
            <a:endParaRPr lang="en-US" sz="11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0 or 1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0080" y="4114800"/>
            <a:ext cx="7863840" cy="54864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" y="425196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variable: 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label per segment — </a:t>
            </a:r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(advertisement) or </a:t>
            </a:r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38A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(organic content). Each segment is ~80 words of transcript text with start/end timestamps.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2286000" cy="292608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1148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— INPUTS &amp; TARGETS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Text → Numbers: Tokenization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4023360" cy="2743200"/>
          </a:xfrm>
          <a:prstGeom prst="rect">
            <a:avLst/>
          </a:prstGeom>
          <a:solidFill>
            <a:srgbClr val="F7FAFC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691640"/>
            <a:ext cx="4023360" cy="54864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8745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WordPiece Tokenization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2286000"/>
            <a:ext cx="3474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DistilBERT's tokenizer splits text into subword tokens and maps each to an integer ID from a 30,522-word vocabulary.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"sponsored" → ["sponsor", "##ed"] → [6487, 2098]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segment is padded or truncated to 128 tokens.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to model: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Token IDs — (batch_size, 128) integer tensor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Attention mask — (batch_size, 128) binary tensor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937760" y="1691640"/>
            <a:ext cx="3749040" cy="2743200"/>
          </a:xfrm>
          <a:prstGeom prst="rect">
            <a:avLst/>
          </a:prstGeom>
          <a:solidFill>
            <a:srgbClr val="F7FAFC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937760" y="1691640"/>
            <a:ext cx="3749040" cy="54864"/>
          </a:xfrm>
          <a:prstGeom prst="rect">
            <a:avLst/>
          </a:prstGeom>
          <a:solidFill>
            <a:srgbClr val="DD6B20"/>
          </a:solidFill>
          <a:ln/>
        </p:spPr>
      </p:sp>
      <p:sp>
        <p:nvSpPr>
          <p:cNvPr id="11" name="Text 9"/>
          <p:cNvSpPr/>
          <p:nvPr/>
        </p:nvSpPr>
        <p:spPr>
          <a:xfrm>
            <a:off x="5212080" y="1874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Preprocessing: Raw vs. Cleaned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212080" y="2286000"/>
            <a:ext cx="3200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synthetic data generator injected filler words ("honestly", "um", "like", "you know") at ~50% prevalence.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Concern: 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might learn filler patterns as shortcuts instead of real ad signals.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 version: 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 strips 12 filler patterns before tokenization.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i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versions are trained and compared to isolate the effect of filler removal on real-world performance.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2103120" cy="292608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1148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— ARCHITECTURE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Baseline vs. Neural Network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3749040" cy="3017520"/>
          </a:xfrm>
          <a:prstGeom prst="rect">
            <a:avLst/>
          </a:prstGeom>
          <a:solidFill>
            <a:srgbClr val="F7FAFC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691640"/>
            <a:ext cx="3749040" cy="54864"/>
          </a:xfrm>
          <a:prstGeom prst="rect">
            <a:avLst/>
          </a:prstGeom>
          <a:solidFill>
            <a:srgbClr val="DD6B20"/>
          </a:solidFill>
          <a:ln/>
        </p:spPr>
      </p:sp>
      <p:sp>
        <p:nvSpPr>
          <p:cNvPr id="7" name="Shape 5"/>
          <p:cNvSpPr/>
          <p:nvPr/>
        </p:nvSpPr>
        <p:spPr>
          <a:xfrm>
            <a:off x="2240280" y="1874520"/>
            <a:ext cx="502920" cy="502920"/>
          </a:xfrm>
          <a:prstGeom prst="ellipse">
            <a:avLst/>
          </a:prstGeom>
          <a:solidFill>
            <a:srgbClr val="DD6B20"/>
          </a:solidFill>
          <a:ln/>
        </p:spPr>
      </p:sp>
      <p:sp>
        <p:nvSpPr>
          <p:cNvPr id="8" name="Text 6"/>
          <p:cNvSpPr/>
          <p:nvPr/>
        </p:nvSpPr>
        <p:spPr>
          <a:xfrm>
            <a:off x="2240280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14400" y="24688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Baseline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14400" y="2971800"/>
            <a:ext cx="3200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regex pattern matcher — no learning.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Scans each segment for known ad phrases: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"sponsored by"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"promo code" / "use code"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"brought to you by"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"check them out" / "link in the"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any pattern matches → predict ad (1).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54880" y="1691640"/>
            <a:ext cx="3931920" cy="3017520"/>
          </a:xfrm>
          <a:prstGeom prst="rect">
            <a:avLst/>
          </a:prstGeom>
          <a:solidFill>
            <a:srgbClr val="F7FAFC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1691640"/>
            <a:ext cx="3931920" cy="54864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13" name="Shape 11"/>
          <p:cNvSpPr/>
          <p:nvPr/>
        </p:nvSpPr>
        <p:spPr>
          <a:xfrm>
            <a:off x="6473952" y="1874520"/>
            <a:ext cx="502920" cy="502920"/>
          </a:xfrm>
          <a:prstGeom prst="ellipse">
            <a:avLst/>
          </a:prstGeom>
          <a:solidFill>
            <a:srgbClr val="2B6CB0"/>
          </a:solidFill>
          <a:ln/>
        </p:spPr>
      </p:sp>
      <p:sp>
        <p:nvSpPr>
          <p:cNvPr id="14" name="Text 12"/>
          <p:cNvSpPr/>
          <p:nvPr/>
        </p:nvSpPr>
        <p:spPr>
          <a:xfrm>
            <a:off x="6473952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029200" y="24688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Fine-tuned DistilBERT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029200" y="2971800"/>
            <a:ext cx="3383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66M param transformer (distilled from BERT).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layers: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WordPiece Embeddings (768-dim)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6 Transformer Layers (self-attention + FFN)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Pre-classifier (768→768, ReLU)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Classifier Head (768→2, softmax)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epochs, batch 16, best model by val F1.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1554480" cy="292608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1148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— RESULTS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Real-World Test Performance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models achieve perfect scores on synthetic validation — the real test set reveals the domain gap.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1828800"/>
            <a:ext cx="3749040" cy="2560320"/>
          </a:xfrm>
          <a:prstGeom prst="rect">
            <a:avLst/>
          </a:prstGeom>
          <a:solidFill>
            <a:srgbClr val="F7FAFC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828800"/>
            <a:ext cx="3749040" cy="54864"/>
          </a:xfrm>
          <a:prstGeom prst="rect">
            <a:avLst/>
          </a:prstGeom>
          <a:solidFill>
            <a:srgbClr val="DD6B20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0116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Baseline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246888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B6CB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0.900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914400" y="288036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965960" y="246888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B6CB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0.474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965960" y="288036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017520" y="246888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B6CB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0.621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3017520" y="288036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Score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914400" y="3246120"/>
            <a:ext cx="3200400" cy="3657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338328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of 19 ads detected, only 1 false positive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precision, moderate recall — misses ads that don't use common trigger phrases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54880" y="1828800"/>
            <a:ext cx="3931920" cy="2560320"/>
          </a:xfrm>
          <a:prstGeom prst="rect">
            <a:avLst/>
          </a:prstGeom>
          <a:solidFill>
            <a:srgbClr val="F7FAFC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1828800"/>
            <a:ext cx="3931920" cy="54864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0" y="20116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Fine-tuned DistilBERT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029200" y="2468880"/>
            <a:ext cx="3383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38A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recall — catches most ads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subtle, conversational ads that the keyword baseline misses entirely (e.g. Veritasium, Lex Fridman sponsors).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But: many false positives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learned overly broad "ad-like" patterns from synthetic training data. It flags organic product enthusiasm as ads — the hardest boundary in this problem.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i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synthetic filler words before training improved recall, confirming the model was partly relying on filler artifacts rather than genuine ad signals.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1554480" cy="292608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1148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— RESULTS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Error Analysis &amp; Domain Gap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3749040" cy="3017520"/>
          </a:xfrm>
          <a:prstGeom prst="rect">
            <a:avLst/>
          </a:prstGeom>
          <a:solidFill>
            <a:srgbClr val="F7FAFC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691640"/>
            <a:ext cx="3749040" cy="54864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874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Negatives (Missed Ads)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2286000"/>
            <a:ext cx="329184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ads missed by BOTH models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post-ad transitions with no ad language at all are invisible to any text-based approach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misses ads without trigger phrases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real hosts don't always say "promo code" or "sponsored by"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DistilBERT catches subtle ads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detects sponsors from Veritasium, Lex Fridman that keywords miss entirely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helps DistilBERT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filler removal lets the model focus on real ad signals instead of synthetic artifacts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691640"/>
            <a:ext cx="3749040" cy="3017520"/>
          </a:xfrm>
          <a:prstGeom prst="rect">
            <a:avLst/>
          </a:prstGeom>
          <a:solidFill>
            <a:srgbClr val="F7FAFC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691640"/>
            <a:ext cx="3749040" cy="54864"/>
          </a:xfrm>
          <a:prstGeom prst="rect">
            <a:avLst/>
          </a:prstGeom>
          <a:solidFill>
            <a:srgbClr val="DD6B20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1874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Positives (Wrongly Flagged)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29200" y="2286000"/>
            <a:ext cx="329184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Keyword: only 1 false positive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strict pattern matching = high precision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DistilBERT: many false positives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cause: synthetic training data taught the model overly broad "ad-like" patterns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i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organic product enthusiasm as ads — the hardest boundary in this problem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b="1" i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precision-recall tradeoff is stark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Takeaways &amp; Future Work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280160"/>
            <a:ext cx="7863840" cy="640080"/>
          </a:xfrm>
          <a:prstGeom prst="rect">
            <a:avLst/>
          </a:prstGeom>
          <a:solidFill>
            <a:srgbClr val="253553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280160"/>
            <a:ext cx="54864" cy="640080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35331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EE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&gt; Architecture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926080" y="1353312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keyword baseline (0.621 F1) outperforms DistilBERT on overall F1 — the domain gap matters more than model power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2057400"/>
            <a:ext cx="7863840" cy="640080"/>
          </a:xfrm>
          <a:prstGeom prst="rect">
            <a:avLst/>
          </a:prstGeom>
          <a:solidFill>
            <a:srgbClr val="253553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" y="2057400"/>
            <a:ext cx="54864" cy="640080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13055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EE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≠ Real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926080" y="2130552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 synthetic validation doesn't transfer. Real ads use real brands, natural delivery, and subtle transitions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2834640"/>
            <a:ext cx="7863840" cy="640080"/>
          </a:xfrm>
          <a:prstGeom prst="rect">
            <a:avLst/>
          </a:prstGeom>
          <a:solidFill>
            <a:srgbClr val="253553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0080" y="2834640"/>
            <a:ext cx="54864" cy="640080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290779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EE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vs. Recall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926080" y="2907792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DistilBERT finds more ads but generates many false positives. Keywords miss ads but rarely flag wrong content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" y="36576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0080" y="40233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real data from SponsorBlock  •  Semi-supervised training (mix synthetic + real)  •  CNN on mel spectrograms  •  Threshold tuning with larger test set</a:t>
            </a:r>
            <a:endParaRPr lang="en-US" sz="110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4480560"/>
            <a:ext cx="548640" cy="54864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1828800" y="46634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EE3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Questions?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Podcast Ad Detection</dc:title>
  <dc:subject>PptxGenJS Presentation</dc:subject>
  <dc:creator>Stephen</dc:creator>
  <cp:lastModifiedBy>Stephen</cp:lastModifiedBy>
  <cp:revision>1</cp:revision>
  <dcterms:created xsi:type="dcterms:W3CDTF">2026-04-13T19:15:11Z</dcterms:created>
  <dcterms:modified xsi:type="dcterms:W3CDTF">2026-04-13T19:15:11Z</dcterms:modified>
</cp:coreProperties>
</file>